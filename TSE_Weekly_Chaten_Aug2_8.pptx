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B5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3657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Chaten's Team — Weekly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32918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2nd August to 8th August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64008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Aug 8, 2026
SIG · Premier · Standard · Industry 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88952" cy="18288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76072"/>
            <a:ext cx="1164031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B5225"/>
                </a:solidFill>
                <a:latin typeface="Arial"/>
              </a:rPr>
              <a:t>⭐  PERFECT WEEK — CSAT 5.0 All Tiers  |  0% Escalations  |  0% SLA Miss  |  119% Overall Productivity  ⭐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731520"/>
            <a:ext cx="12188952" cy="126187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768096"/>
            <a:ext cx="4937759" cy="192024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" y="786384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37333"/>
                </a:solidFill>
                <a:latin typeface="Arial"/>
              </a:rPr>
              <a:t>CSAT  (SURVEY COUNT)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" y="969264"/>
            <a:ext cx="1170431" cy="1005839"/>
          </a:xfrm>
          <a:prstGeom prst="rect">
            <a:avLst/>
          </a:prstGeom>
          <a:solidFill>
            <a:srgbClr val="FFF8E1"/>
          </a:solidFill>
          <a:ln w="3810">
            <a:solidFill>
              <a:srgbClr val="C8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5" y="1005840"/>
            <a:ext cx="1133855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7B5800"/>
                </a:solidFill>
                <a:latin typeface="Arial"/>
              </a:rPr>
              <a:t>5.0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5" y="1492300"/>
            <a:ext cx="1133855" cy="261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F6368"/>
                </a:solidFill>
                <a:latin typeface="Arial"/>
              </a:rPr>
              <a:t>Overall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5" y="1733702"/>
            <a:ext cx="1133855" cy="221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F6368"/>
                </a:solidFill>
                <a:latin typeface="Arial"/>
              </a:rPr>
              <a:t>n=8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35024" y="969264"/>
            <a:ext cx="1170431" cy="1005839"/>
          </a:xfrm>
          <a:prstGeom prst="rect">
            <a:avLst/>
          </a:prstGeom>
          <a:solidFill>
            <a:srgbClr val="FFF8E1"/>
          </a:solidFill>
          <a:ln w="3810">
            <a:solidFill>
              <a:srgbClr val="C8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53312" y="1005840"/>
            <a:ext cx="1133855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7B5800"/>
                </a:solidFill>
                <a:latin typeface="Arial"/>
              </a:rPr>
              <a:t>5.0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1492300"/>
            <a:ext cx="1133855" cy="261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F6368"/>
                </a:solidFill>
                <a:latin typeface="Arial"/>
              </a:rPr>
              <a:t>Premier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1733702"/>
            <a:ext cx="1133855" cy="221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F6368"/>
                </a:solidFill>
                <a:latin typeface="Arial"/>
              </a:rPr>
              <a:t>n=4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969264"/>
            <a:ext cx="1170431" cy="1005839"/>
          </a:xfrm>
          <a:prstGeom prst="rect">
            <a:avLst/>
          </a:prstGeom>
          <a:solidFill>
            <a:srgbClr val="FFF8E1"/>
          </a:solidFill>
          <a:ln w="3810">
            <a:solidFill>
              <a:srgbClr val="C8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78608" y="1005840"/>
            <a:ext cx="1133855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7B5800"/>
                </a:solidFill>
                <a:latin typeface="Arial"/>
              </a:rPr>
              <a:t>5.0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78608" y="1492300"/>
            <a:ext cx="1133855" cy="261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F6368"/>
                </a:solidFill>
                <a:latin typeface="Arial"/>
              </a:rPr>
              <a:t>Standard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8608" y="1733702"/>
            <a:ext cx="1133855" cy="221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F6368"/>
                </a:solidFill>
                <a:latin typeface="Arial"/>
              </a:rPr>
              <a:t>n=3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85615" y="969264"/>
            <a:ext cx="1170431" cy="1005839"/>
          </a:xfrm>
          <a:prstGeom prst="rect">
            <a:avLst/>
          </a:prstGeom>
          <a:solidFill>
            <a:srgbClr val="FFF8E1"/>
          </a:solidFill>
          <a:ln w="3810">
            <a:solidFill>
              <a:srgbClr val="C8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03903" y="1005840"/>
            <a:ext cx="1133855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7B5800"/>
                </a:solidFill>
                <a:latin typeface="Arial"/>
              </a:rPr>
              <a:t>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3903" y="1492300"/>
            <a:ext cx="1133855" cy="261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F6368"/>
                </a:solidFill>
                <a:latin typeface="Arial"/>
              </a:rPr>
              <a:t>Signature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03903" y="1733702"/>
            <a:ext cx="1133855" cy="221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5F6368"/>
                </a:solidFill>
                <a:latin typeface="Arial"/>
              </a:rPr>
              <a:t>n=1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777240"/>
            <a:ext cx="7315" cy="1170431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2079" y="768096"/>
            <a:ext cx="3474720" cy="192024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85231" y="786384"/>
            <a:ext cx="338327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37333"/>
                </a:solidFill>
                <a:latin typeface="Arial"/>
              </a:rPr>
              <a:t>VOLUME &amp; SLA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79" y="969264"/>
            <a:ext cx="654710" cy="1005839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30367" y="1005840"/>
            <a:ext cx="618134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73E8"/>
                </a:solidFill>
                <a:latin typeface="Arial"/>
              </a:rPr>
              <a:t>78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7" y="1492300"/>
            <a:ext cx="618134" cy="261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F6368"/>
                </a:solidFill>
                <a:latin typeface="Arial"/>
              </a:rPr>
              <a:t>Inflow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03366" y="969264"/>
            <a:ext cx="654710" cy="1005839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21654" y="1005840"/>
            <a:ext cx="618134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A73E8"/>
                </a:solidFill>
                <a:latin typeface="Arial"/>
              </a:rPr>
              <a:t>76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21654" y="1492300"/>
            <a:ext cx="618134" cy="261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F6368"/>
                </a:solidFill>
                <a:latin typeface="Arial"/>
              </a:rPr>
              <a:t>Capacity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94652" y="969264"/>
            <a:ext cx="654710" cy="1005839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12940" y="1005840"/>
            <a:ext cx="618134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37333"/>
                </a:solidFill>
                <a:latin typeface="Arial"/>
              </a:rPr>
              <a:t>88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12940" y="1492300"/>
            <a:ext cx="618134" cy="261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F6368"/>
                </a:solidFill>
                <a:latin typeface="Arial"/>
              </a:rPr>
              <a:t>Closure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85939" y="969264"/>
            <a:ext cx="654710" cy="1005839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04227" y="1005840"/>
            <a:ext cx="618134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37333"/>
                </a:solidFill>
                <a:latin typeface="Arial"/>
              </a:rPr>
              <a:t>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04227" y="1492300"/>
            <a:ext cx="618134" cy="261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F6368"/>
                </a:solidFill>
                <a:latin typeface="Arial"/>
              </a:rPr>
              <a:t>Esc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77225" y="969264"/>
            <a:ext cx="654710" cy="1005839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95513" y="1005840"/>
            <a:ext cx="618134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37333"/>
                </a:solidFill>
                <a:latin typeface="Arial"/>
              </a:rPr>
              <a:t>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95513" y="1492300"/>
            <a:ext cx="618134" cy="261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F6368"/>
                </a:solidFill>
                <a:latin typeface="Arial"/>
              </a:rPr>
              <a:t>SLA Miss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78240" y="777240"/>
            <a:ext cx="7315" cy="1170431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869680" y="768096"/>
            <a:ext cx="3227832" cy="192024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42832" y="786384"/>
            <a:ext cx="31363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37333"/>
                </a:solidFill>
                <a:latin typeface="Arial"/>
              </a:rPr>
              <a:t>TTR &amp; PRODUCTIVITY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69680" y="969264"/>
            <a:ext cx="765810" cy="1005839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87967" y="1005840"/>
            <a:ext cx="729234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06000"/>
                </a:solidFill>
                <a:latin typeface="Arial"/>
              </a:rPr>
              <a:t>8.11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87967" y="1492300"/>
            <a:ext cx="729234" cy="261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F6368"/>
                </a:solidFill>
                <a:latin typeface="Arial"/>
              </a:rPr>
              <a:t>Ovr TTR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72065" y="969264"/>
            <a:ext cx="765810" cy="1005839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90353" y="1005840"/>
            <a:ext cx="729234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06000"/>
                </a:solidFill>
                <a:latin typeface="Arial"/>
              </a:rPr>
              <a:t>8.38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0353" y="1492300"/>
            <a:ext cx="729234" cy="261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F6368"/>
                </a:solidFill>
                <a:latin typeface="Arial"/>
              </a:rPr>
              <a:t>SIG TTR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4452" y="969264"/>
            <a:ext cx="765810" cy="1005839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92740" y="1005840"/>
            <a:ext cx="729234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37333"/>
                </a:solidFill>
                <a:latin typeface="Arial"/>
              </a:rPr>
              <a:t>119%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92740" y="1492300"/>
            <a:ext cx="729234" cy="261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F6368"/>
                </a:solidFill>
                <a:latin typeface="Arial"/>
              </a:rPr>
              <a:t>Ovr Prod.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276838" y="969264"/>
            <a:ext cx="765810" cy="1005839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295126" y="1005840"/>
            <a:ext cx="729234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37333"/>
                </a:solidFill>
                <a:latin typeface="Arial"/>
              </a:rPr>
              <a:t>109%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295126" y="1492300"/>
            <a:ext cx="729234" cy="261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5F6368"/>
                </a:solidFill>
                <a:latin typeface="Arial"/>
              </a:rPr>
              <a:t>Cls Prod.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059326" y="1993391"/>
            <a:ext cx="7315" cy="463600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122310" y="1993391"/>
            <a:ext cx="7315" cy="4636008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28016" y="2057399"/>
            <a:ext cx="3806952" cy="192024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1168" y="2075687"/>
            <a:ext cx="37155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37333"/>
                </a:solidFill>
                <a:latin typeface="Arial"/>
              </a:rPr>
              <a:t>PRIORITIES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8016" y="2276856"/>
            <a:ext cx="3770375" cy="1970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"/>
              </a:spcBef>
            </a:pPr>
            <a:r>
              <a:rPr sz="900" b="1">
                <a:solidFill>
                  <a:srgbClr val="1A1A1A"/>
                </a:solidFill>
                <a:latin typeface="Arial"/>
              </a:rPr>
              <a:t>Team Collaboration</a:t>
            </a:r>
          </a:p>
          <a:p>
            <a:pPr>
              <a:spcBef>
                <a:spcPts val="120"/>
              </a:spcBef>
            </a:pPr>
            <a:r>
              <a:rPr sz="850" b="0">
                <a:solidFill>
                  <a:srgbClr val="3C4043"/>
                </a:solidFill>
                <a:latin typeface="Arial"/>
              </a:rPr>
              <a:t>Work in collaboration with new team members.</a:t>
            </a:r>
          </a:p>
          <a:p>
            <a:pPr>
              <a:spcBef>
                <a:spcPts val="120"/>
              </a:spcBef>
            </a:pPr>
            <a:r>
              <a:rPr sz="300" b="0">
                <a:solidFill>
                  <a:srgbClr val="3C4043"/>
                </a:solidFill>
                <a:latin typeface="Arial"/>
              </a:rPr>
              <a:t> </a:t>
            </a:r>
          </a:p>
          <a:p>
            <a:pPr>
              <a:spcBef>
                <a:spcPts val="120"/>
              </a:spcBef>
            </a:pPr>
            <a:r>
              <a:rPr sz="900" b="1">
                <a:solidFill>
                  <a:srgbClr val="1A1A1A"/>
                </a:solidFill>
                <a:latin typeface="Arial"/>
              </a:rPr>
              <a:t>Skill Enhancement</a:t>
            </a:r>
          </a:p>
          <a:p>
            <a:pPr>
              <a:spcBef>
                <a:spcPts val="120"/>
              </a:spcBef>
            </a:pPr>
            <a:r>
              <a:rPr sz="850" b="0">
                <a:solidFill>
                  <a:srgbClr val="3C4043"/>
                </a:solidFill>
                <a:latin typeface="Arial"/>
              </a:rPr>
              <a:t>Onboard Pallavi Yadav for RCA Sev 1 and reduce the CPQ load.</a:t>
            </a:r>
          </a:p>
          <a:p>
            <a:pPr>
              <a:spcBef>
                <a:spcPts val="120"/>
              </a:spcBef>
            </a:pPr>
            <a:r>
              <a:rPr sz="300" b="0">
                <a:solidFill>
                  <a:srgbClr val="3C4043"/>
                </a:solidFill>
                <a:latin typeface="Arial"/>
              </a:rPr>
              <a:t> </a:t>
            </a:r>
          </a:p>
          <a:p>
            <a:pPr>
              <a:spcBef>
                <a:spcPts val="120"/>
              </a:spcBef>
            </a:pPr>
            <a:r>
              <a:rPr sz="900" b="1">
                <a:solidFill>
                  <a:srgbClr val="1A1A1A"/>
                </a:solidFill>
                <a:latin typeface="Arial"/>
              </a:rPr>
              <a:t>Training</a:t>
            </a:r>
          </a:p>
          <a:p>
            <a:pPr>
              <a:spcBef>
                <a:spcPts val="120"/>
              </a:spcBef>
            </a:pPr>
            <a:r>
              <a:rPr sz="850" b="0">
                <a:solidFill>
                  <a:srgbClr val="3C4043"/>
                </a:solidFill>
                <a:latin typeface="Arial"/>
              </a:rPr>
              <a:t>LSC installation training via Salesforce Go (success guide if required).</a:t>
            </a:r>
          </a:p>
          <a:p>
            <a:pPr>
              <a:spcBef>
                <a:spcPts val="120"/>
              </a:spcBef>
            </a:pPr>
            <a:r>
              <a:rPr sz="300" b="0">
                <a:solidFill>
                  <a:srgbClr val="3C4043"/>
                </a:solidFill>
                <a:latin typeface="Arial"/>
              </a:rPr>
              <a:t> </a:t>
            </a:r>
          </a:p>
          <a:p>
            <a:pPr>
              <a:spcBef>
                <a:spcPts val="120"/>
              </a:spcBef>
            </a:pPr>
            <a:r>
              <a:rPr sz="900" b="1">
                <a:solidFill>
                  <a:srgbClr val="1A1A1A"/>
                </a:solidFill>
                <a:latin typeface="Arial"/>
              </a:rPr>
              <a:t>MFA Cases</a:t>
            </a:r>
          </a:p>
          <a:p>
            <a:pPr>
              <a:spcBef>
                <a:spcPts val="120"/>
              </a:spcBef>
            </a:pPr>
            <a:r>
              <a:rPr sz="850" b="0">
                <a:solidFill>
                  <a:srgbClr val="3C4043"/>
                </a:solidFill>
                <a:latin typeface="Arial"/>
              </a:rPr>
              <a:t>Provide support to Sales Cloud by picking MFA cases.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4311396"/>
            <a:ext cx="4062984" cy="5486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28016" y="4357116"/>
            <a:ext cx="3806952" cy="192024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1168" y="4375403"/>
            <a:ext cx="37155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37333"/>
                </a:solidFill>
                <a:latin typeface="Arial"/>
              </a:rPr>
              <a:t>POSITIVES &amp; HIGHLIGHTS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8016" y="4576572"/>
            <a:ext cx="3770375" cy="1997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"/>
              </a:spcBef>
            </a:pPr>
            <a:r>
              <a:rPr sz="900" b="1">
                <a:solidFill>
                  <a:srgbClr val="0B5225"/>
                </a:solidFill>
                <a:latin typeface="Arial"/>
              </a:rPr>
              <a:t>✓  No escalations from the team</a:t>
            </a:r>
          </a:p>
          <a:p>
            <a:pPr>
              <a:spcBef>
                <a:spcPts val="120"/>
              </a:spcBef>
            </a:pPr>
            <a:r>
              <a:rPr sz="850" b="0">
                <a:solidFill>
                  <a:srgbClr val="3C4043"/>
                </a:solidFill>
                <a:latin typeface="Arial"/>
              </a:rPr>
              <a:t>✓  19 Premier cases picked up during low SIG inflow</a:t>
            </a:r>
          </a:p>
          <a:p>
            <a:pPr>
              <a:spcBef>
                <a:spcPts val="120"/>
              </a:spcBef>
            </a:pPr>
            <a:r>
              <a:rPr sz="850" b="0">
                <a:solidFill>
                  <a:srgbClr val="3C4043"/>
                </a:solidFill>
                <a:latin typeface="Arial"/>
              </a:rPr>
              <a:t>✓  11 Sales Security cases picked up additionally</a:t>
            </a:r>
          </a:p>
          <a:p>
            <a:pPr>
              <a:spcBef>
                <a:spcPts val="120"/>
              </a:spcBef>
            </a:pPr>
            <a:r>
              <a:rPr sz="850" b="0">
                <a:solidFill>
                  <a:srgbClr val="3C4043"/>
                </a:solidFill>
                <a:latin typeface="Arial"/>
              </a:rPr>
              <a:t>✓  Aniruddha: 9 Mktg Cloud (3 Premier + 6 Standard)</a:t>
            </a:r>
          </a:p>
          <a:p>
            <a:pPr>
              <a:spcBef>
                <a:spcPts val="120"/>
              </a:spcBef>
            </a:pPr>
            <a:r>
              <a:rPr sz="850" b="1">
                <a:solidFill>
                  <a:srgbClr val="0B5225"/>
                </a:solidFill>
                <a:latin typeface="Arial"/>
              </a:rPr>
              <a:t>✓  Closure (88) &gt; Inflow (78) — queue fully cleared</a:t>
            </a:r>
          </a:p>
          <a:p>
            <a:pPr>
              <a:spcBef>
                <a:spcPts val="120"/>
              </a:spcBef>
            </a:pPr>
            <a:r>
              <a:rPr sz="850" b="1">
                <a:solidFill>
                  <a:srgbClr val="0B5225"/>
                </a:solidFill>
                <a:latin typeface="Arial"/>
              </a:rPr>
              <a:t>✓  Overall productivity at 119% — team above target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90999" y="2057399"/>
            <a:ext cx="3806952" cy="192024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64152" y="2075687"/>
            <a:ext cx="37155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37333"/>
                </a:solidFill>
                <a:latin typeface="Arial"/>
              </a:rPr>
              <a:t>TOP 5 P&amp;T INFLOW TRENDS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72712" y="2276856"/>
            <a:ext cx="3806952" cy="832103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90999" y="2304287"/>
            <a:ext cx="331317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Arial"/>
              </a:rPr>
              <a:t>OmniStudio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559040" y="2304287"/>
            <a:ext cx="365760" cy="17373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559040" y="2304287"/>
            <a:ext cx="36576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23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90999" y="2505456"/>
            <a:ext cx="3770375" cy="64008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190999" y="2505456"/>
            <a:ext cx="3770375" cy="640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90999" y="2587751"/>
            <a:ext cx="3770375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F6368"/>
                </a:solidFill>
                <a:latin typeface="Arial"/>
              </a:rPr>
              <a:t>FlexCard/OmniScript, Data Mapper, picklist,
lookup &amp; merge field errors, component setup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72712" y="3145535"/>
            <a:ext cx="3806952" cy="8321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90999" y="3172967"/>
            <a:ext cx="331317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Arial"/>
              </a:rPr>
              <a:t>Life Sciences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559040" y="3172967"/>
            <a:ext cx="365760" cy="173736"/>
          </a:xfrm>
          <a:prstGeom prst="rect">
            <a:avLst/>
          </a:prstGeom>
          <a:solidFill>
            <a:srgbClr val="13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559040" y="3172967"/>
            <a:ext cx="36576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90999" y="3374135"/>
            <a:ext cx="3770375" cy="64008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190999" y="3374135"/>
            <a:ext cx="2458940" cy="64008"/>
          </a:xfrm>
          <a:prstGeom prst="rect">
            <a:avLst/>
          </a:prstGeom>
          <a:solidFill>
            <a:srgbClr val="13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90999" y="3456431"/>
            <a:ext cx="3770375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F6368"/>
                </a:solidFill>
                <a:latin typeface="Arial"/>
              </a:rPr>
              <a:t>Activity Plan errors, Map Pin issues,
Sample Transfer errors, UI/Display issues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172712" y="4014215"/>
            <a:ext cx="3806952" cy="832103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190999" y="4041648"/>
            <a:ext cx="331317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Arial"/>
              </a:rPr>
              <a:t>Industry CPQ (Comm. Cloud)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559040" y="4041648"/>
            <a:ext cx="365760" cy="173736"/>
          </a:xfrm>
          <a:prstGeom prst="rect">
            <a:avLst/>
          </a:prstGeom>
          <a:solidFill>
            <a:srgbClr val="B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559040" y="4041648"/>
            <a:ext cx="36576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190999" y="4242816"/>
            <a:ext cx="3770375" cy="64008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190999" y="4242816"/>
            <a:ext cx="1147505" cy="64008"/>
          </a:xfrm>
          <a:prstGeom prst="rect">
            <a:avLst/>
          </a:prstGeom>
          <a:solidFill>
            <a:srgbClr val="B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172712" y="4882896"/>
            <a:ext cx="3806952" cy="8321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190999" y="4910328"/>
            <a:ext cx="331317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Arial"/>
              </a:rPr>
              <a:t>FSC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559040" y="4910328"/>
            <a:ext cx="365760" cy="173736"/>
          </a:xfrm>
          <a:prstGeom prst="rect">
            <a:avLst/>
          </a:prstGeom>
          <a:solidFill>
            <a:srgbClr val="B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559040" y="4910328"/>
            <a:ext cx="36576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90999" y="5111496"/>
            <a:ext cx="3770375" cy="64008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190999" y="5111496"/>
            <a:ext cx="983576" cy="64008"/>
          </a:xfrm>
          <a:prstGeom prst="rect">
            <a:avLst/>
          </a:prstGeom>
          <a:solidFill>
            <a:srgbClr val="B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190999" y="5193792"/>
            <a:ext cx="3770375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5F6368"/>
                </a:solidFill>
                <a:latin typeface="Arial"/>
              </a:rPr>
              <a:t>Object access related questions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172712" y="5751575"/>
            <a:ext cx="3806952" cy="832103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190999" y="5779007"/>
            <a:ext cx="331317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Arial"/>
              </a:rPr>
              <a:t>RCA (Configurator)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59040" y="5779007"/>
            <a:ext cx="365760" cy="173736"/>
          </a:xfrm>
          <a:prstGeom prst="rect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9040" y="5779007"/>
            <a:ext cx="36576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190999" y="5980175"/>
            <a:ext cx="3770375" cy="64008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190999" y="5980175"/>
            <a:ext cx="819646" cy="64008"/>
          </a:xfrm>
          <a:prstGeom prst="rect">
            <a:avLst/>
          </a:prstGeom>
          <a:solidFill>
            <a:srgbClr val="5F6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253984" y="2057399"/>
            <a:ext cx="3806952" cy="192024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327136" y="2075687"/>
            <a:ext cx="37155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137333"/>
                </a:solidFill>
                <a:latin typeface="Arial"/>
              </a:rPr>
              <a:t>ACCOUNT SIGNALS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253984" y="2276856"/>
            <a:ext cx="3770375" cy="1392936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253984" y="2276856"/>
            <a:ext cx="54864" cy="1392936"/>
          </a:xfrm>
          <a:prstGeom prst="rect">
            <a:avLst/>
          </a:prstGeom>
          <a:solidFill>
            <a:srgbClr val="13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345424" y="2322575"/>
            <a:ext cx="3642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37333"/>
                </a:solidFill>
                <a:latin typeface="Arial"/>
              </a:rPr>
              <a:t>Claro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45424" y="2532887"/>
            <a:ext cx="3642359" cy="1100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C4043"/>
                </a:solidFill>
                <a:latin typeface="Arial"/>
              </a:rPr>
              <a:t>Recommendations shared with PS team — customer to be onboarded on improvements. CSM follow-up on Slack pending; case to close after CSM confirmation.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253984" y="3724656"/>
            <a:ext cx="3770375" cy="1392936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253984" y="3724656"/>
            <a:ext cx="54864" cy="1392936"/>
          </a:xfrm>
          <a:prstGeom prst="rect">
            <a:avLst/>
          </a:prstGeom>
          <a:solidFill>
            <a:srgbClr val="B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345424" y="3770375"/>
            <a:ext cx="3642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06000"/>
                </a:solidFill>
                <a:latin typeface="Arial"/>
              </a:rPr>
              <a:t>Veeam  🔴  Running Hot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345424" y="3980688"/>
            <a:ext cx="3642359" cy="1100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C4043"/>
                </a:solidFill>
                <a:latin typeface="Arial"/>
              </a:rPr>
              <a:t>Meeting scheduled to work on transactional issues. Customer running hot due to multiple implementation issues. RCA SA engaged.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253984" y="5172456"/>
            <a:ext cx="3770375" cy="139293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253984" y="5172456"/>
            <a:ext cx="54864" cy="139293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345424" y="5218175"/>
            <a:ext cx="36423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73E8"/>
                </a:solidFill>
                <a:latin typeface="Arial"/>
              </a:rPr>
              <a:t>Pfizer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345424" y="5428488"/>
            <a:ext cx="3642359" cy="1100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C4043"/>
                </a:solidFill>
                <a:latin typeface="Arial"/>
              </a:rPr>
              <a:t>Event monitoring cases open — new alignment needs to be clarified with Harish Raja by @tushar. Follow-up call scheduled tomorrow.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3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82880" y="6665976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>Chaten's Team  |  Signature &amp; Premier  |  Industry Cloud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931920" y="6665976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Arial"/>
              </a:rPr>
              <a:t>CSAT 5.0 All Tiers  |  Prod 119%/109%  |  Esc 0%  |  SLA 0%  |  TTR 8.11 / SIG 8.38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994392" y="6665976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/>
              </a:rPr>
              <a:t>Aug 2 – 8,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