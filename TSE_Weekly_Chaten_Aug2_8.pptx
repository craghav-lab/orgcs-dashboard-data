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B5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Chaten's Team Weekly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365760"/>
            <a:ext cx="6858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Aug 2 – Aug 8, 2026  |  Signature &amp; Premier Support  |  Industry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54864"/>
            <a:ext cx="2926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Aug 8, 2026
All Tiers: SIG · Premier · Standard
P&amp;T: OmniStudio · LifeSci · CPQ · FSC · 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"/>
            <a:ext cx="12188952" cy="256032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85800"/>
            <a:ext cx="11640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0B5225"/>
                </a:solidFill>
                <a:latin typeface="Arial"/>
              </a:rPr>
              <a:t>⭐  Perfect Week — CSAT 5.0 across ALL tiers (8 surveys)  |  0% Escalations  |  0% SLA Miss  |  119% Overall Productivity  ⭐</a:t>
            </a:r>
          </a:p>
        </p:txBody>
      </p:sp>
      <p:sp>
        <p:nvSpPr>
          <p:cNvPr id="8" name="Rectangle 7"/>
          <p:cNvSpPr/>
          <p:nvPr/>
        </p:nvSpPr>
        <p:spPr>
          <a:xfrm>
            <a:off x="4058412" y="914400"/>
            <a:ext cx="9144" cy="571500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1395" y="914400"/>
            <a:ext cx="9144" cy="571500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767328"/>
            <a:ext cx="12188952" cy="9144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" y="987552"/>
            <a:ext cx="3843528" cy="18288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987552"/>
            <a:ext cx="37886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37333"/>
                </a:solidFill>
                <a:latin typeface="Arial"/>
              </a:rPr>
              <a:t>CSAT (SURVEY COUNT)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207008"/>
            <a:ext cx="869441" cy="2473452"/>
          </a:xfrm>
          <a:prstGeom prst="rect">
            <a:avLst/>
          </a:prstGeom>
          <a:solidFill>
            <a:srgbClr val="FFF8E1"/>
          </a:solidFill>
          <a:ln w="3810">
            <a:solidFill>
              <a:srgbClr val="C8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252728"/>
            <a:ext cx="86944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B5800"/>
                </a:solidFill>
                <a:latin typeface="Arial"/>
              </a:rPr>
              <a:t>5.0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" y="1527048"/>
            <a:ext cx="86944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C4043"/>
                </a:solidFill>
                <a:latin typeface="Arial"/>
              </a:rPr>
              <a:t>Overall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1682496"/>
            <a:ext cx="86944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n=8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07186" y="1207008"/>
            <a:ext cx="869441" cy="2473452"/>
          </a:xfrm>
          <a:prstGeom prst="rect">
            <a:avLst/>
          </a:prstGeom>
          <a:solidFill>
            <a:srgbClr val="FFF8E1"/>
          </a:solidFill>
          <a:ln w="3810">
            <a:solidFill>
              <a:srgbClr val="C8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7186" y="1252728"/>
            <a:ext cx="86944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B5800"/>
                </a:solidFill>
                <a:latin typeface="Arial"/>
              </a:rPr>
              <a:t>5.0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7186" y="1527048"/>
            <a:ext cx="86944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C4043"/>
                </a:solidFill>
                <a:latin typeface="Arial"/>
              </a:rPr>
              <a:t>Premier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7186" y="1682496"/>
            <a:ext cx="86944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n=4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1492" y="1207008"/>
            <a:ext cx="869441" cy="2473452"/>
          </a:xfrm>
          <a:prstGeom prst="rect">
            <a:avLst/>
          </a:prstGeom>
          <a:solidFill>
            <a:srgbClr val="FFF8E1"/>
          </a:solidFill>
          <a:ln w="3810">
            <a:solidFill>
              <a:srgbClr val="C8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1492" y="1252728"/>
            <a:ext cx="86944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B5800"/>
                </a:solidFill>
                <a:latin typeface="Arial"/>
              </a:rPr>
              <a:t>5.0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1492" y="1527048"/>
            <a:ext cx="86944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C4043"/>
                </a:solidFill>
                <a:latin typeface="Arial"/>
              </a:rPr>
              <a:t>Standard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1492" y="1682496"/>
            <a:ext cx="86944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n=3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55798" y="1207008"/>
            <a:ext cx="869441" cy="2473452"/>
          </a:xfrm>
          <a:prstGeom prst="rect">
            <a:avLst/>
          </a:prstGeom>
          <a:solidFill>
            <a:srgbClr val="FFF8E1"/>
          </a:solidFill>
          <a:ln w="3810">
            <a:solidFill>
              <a:srgbClr val="C8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5798" y="1252728"/>
            <a:ext cx="86944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B5800"/>
                </a:solidFill>
                <a:latin typeface="Arial"/>
              </a:rPr>
              <a:t>5.0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5798" y="1527048"/>
            <a:ext cx="86944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C4043"/>
                </a:solidFill>
                <a:latin typeface="Arial"/>
              </a:rPr>
              <a:t>Signature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5798" y="1682496"/>
            <a:ext cx="86944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n=1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2712" y="987552"/>
            <a:ext cx="3843528" cy="18288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0144" y="987552"/>
            <a:ext cx="37886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37333"/>
                </a:solidFill>
                <a:latin typeface="Arial"/>
              </a:rPr>
              <a:t>VOLUME, TTR &amp; PRODUCTIVITY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7576" y="1207008"/>
            <a:ext cx="880872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7576" y="1234440"/>
            <a:ext cx="88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73E8"/>
                </a:solidFill>
                <a:latin typeface="Arial"/>
              </a:rPr>
              <a:t>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7576" y="1481328"/>
            <a:ext cx="8808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Inflow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63312" y="1207008"/>
            <a:ext cx="880872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3312" y="1234440"/>
            <a:ext cx="88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73E8"/>
                </a:solidFill>
                <a:latin typeface="Arial"/>
              </a:rPr>
              <a:t>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3312" y="1481328"/>
            <a:ext cx="8808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Capacity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8" y="1207008"/>
            <a:ext cx="880872" cy="4572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9048" y="1234440"/>
            <a:ext cx="88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37333"/>
                </a:solidFill>
                <a:latin typeface="Arial"/>
              </a:rPr>
              <a:t>88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9048" y="1481328"/>
            <a:ext cx="8808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Closure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34784" y="1207008"/>
            <a:ext cx="880872" cy="457200"/>
          </a:xfrm>
          <a:prstGeom prst="rect">
            <a:avLst/>
          </a:prstGeom>
          <a:solidFill>
            <a:srgbClr val="FE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34784" y="1234440"/>
            <a:ext cx="88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B06000"/>
                </a:solidFill>
                <a:latin typeface="Arial"/>
              </a:rPr>
              <a:t>8.11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34784" y="1481328"/>
            <a:ext cx="8808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Ovr. TTR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27576" y="1737360"/>
            <a:ext cx="880872" cy="457200"/>
          </a:xfrm>
          <a:prstGeom prst="rect">
            <a:avLst/>
          </a:prstGeom>
          <a:solidFill>
            <a:srgbClr val="FE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7576" y="1764792"/>
            <a:ext cx="88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B06000"/>
                </a:solidFill>
                <a:latin typeface="Arial"/>
              </a:rPr>
              <a:t>8.38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7576" y="2011680"/>
            <a:ext cx="8808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SIG TTR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63312" y="1737360"/>
            <a:ext cx="880872" cy="4572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63312" y="1764792"/>
            <a:ext cx="88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37333"/>
                </a:solidFill>
                <a:latin typeface="Arial"/>
              </a:rPr>
              <a:t>119%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63312" y="2011680"/>
            <a:ext cx="8808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Ovr. Prod.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9048" y="1737360"/>
            <a:ext cx="880872" cy="4572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9048" y="1764792"/>
            <a:ext cx="88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37333"/>
                </a:solidFill>
                <a:latin typeface="Arial"/>
              </a:rPr>
              <a:t>109%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9048" y="2011680"/>
            <a:ext cx="8808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F6368"/>
                </a:solidFill>
                <a:latin typeface="Arial"/>
              </a:rPr>
              <a:t>Cls. Prod.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27576" y="2340864"/>
            <a:ext cx="1812035" cy="402336"/>
          </a:xfrm>
          <a:prstGeom prst="rect">
            <a:avLst/>
          </a:prstGeom>
          <a:solidFill>
            <a:srgbClr val="E6F4EA"/>
          </a:solidFill>
          <a:ln w="10160">
            <a:solidFill>
              <a:srgbClr val="137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7576" y="2359152"/>
            <a:ext cx="18120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37333"/>
                </a:solidFill>
                <a:latin typeface="Arial"/>
              </a:rPr>
              <a:t>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27576" y="2587752"/>
            <a:ext cx="1812035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37333"/>
                </a:solidFill>
                <a:latin typeface="Arial"/>
              </a:rPr>
              <a:t>Escalations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4475" y="2340864"/>
            <a:ext cx="1812035" cy="402336"/>
          </a:xfrm>
          <a:prstGeom prst="rect">
            <a:avLst/>
          </a:prstGeom>
          <a:solidFill>
            <a:srgbClr val="E6F4EA"/>
          </a:solidFill>
          <a:ln w="10160">
            <a:solidFill>
              <a:srgbClr val="137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4475" y="2359152"/>
            <a:ext cx="18120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37333"/>
                </a:solidFill>
                <a:latin typeface="Arial"/>
              </a:rPr>
              <a:t>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94475" y="2587752"/>
            <a:ext cx="1812035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37333"/>
                </a:solidFill>
                <a:latin typeface="Arial"/>
              </a:rPr>
              <a:t>SLA Miss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35695" y="987552"/>
            <a:ext cx="3843528" cy="18288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63128" y="987552"/>
            <a:ext cx="37886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37333"/>
                </a:solidFill>
                <a:latin typeface="Arial"/>
              </a:rPr>
              <a:t>AUGUST PRIORITIES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0560" y="1207008"/>
            <a:ext cx="3788664" cy="2510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</a:pPr>
            <a:r>
              <a:rPr sz="900" b="1">
                <a:solidFill>
                  <a:srgbClr val="3C4043"/>
                </a:solidFill>
                <a:latin typeface="Arial"/>
              </a:rPr>
              <a:t>Team Collaboration:</a:t>
            </a:r>
          </a:p>
          <a:p>
            <a:pPr>
              <a:spcBef>
                <a:spcPts val="100"/>
              </a:spcBef>
            </a:pPr>
            <a:r>
              <a:rPr sz="900" b="0">
                <a:solidFill>
                  <a:srgbClr val="3C4043"/>
                </a:solidFill>
                <a:latin typeface="Arial"/>
              </a:rPr>
              <a:t>Work with new team members.</a:t>
            </a:r>
          </a:p>
          <a:p>
            <a:pPr>
              <a:spcBef>
                <a:spcPts val="100"/>
              </a:spcBef>
            </a:pPr>
            <a:r>
              <a:rPr sz="900" b="1">
                <a:solidFill>
                  <a:srgbClr val="3C4043"/>
                </a:solidFill>
                <a:latin typeface="Arial"/>
              </a:rPr>
              <a:t>Skill Enhancement:</a:t>
            </a:r>
          </a:p>
          <a:p>
            <a:pPr>
              <a:spcBef>
                <a:spcPts val="100"/>
              </a:spcBef>
            </a:pPr>
            <a:r>
              <a:rPr sz="900" b="0">
                <a:solidFill>
                  <a:srgbClr val="3C4043"/>
                </a:solidFill>
                <a:latin typeface="Arial"/>
              </a:rPr>
              <a:t>Onboard Palavi Yadav for RCA Sev 1; reduce CPQ load.</a:t>
            </a:r>
          </a:p>
          <a:p>
            <a:pPr>
              <a:spcBef>
                <a:spcPts val="100"/>
              </a:spcBef>
            </a:pPr>
            <a:r>
              <a:rPr sz="900" b="1">
                <a:solidFill>
                  <a:srgbClr val="3C4043"/>
                </a:solidFill>
                <a:latin typeface="Arial"/>
              </a:rPr>
              <a:t>Training:</a:t>
            </a:r>
          </a:p>
          <a:p>
            <a:pPr>
              <a:spcBef>
                <a:spcPts val="100"/>
              </a:spcBef>
            </a:pPr>
            <a:r>
              <a:rPr sz="900" b="0">
                <a:solidFill>
                  <a:srgbClr val="3C4043"/>
                </a:solidFill>
                <a:latin typeface="Arial"/>
              </a:rPr>
              <a:t>LSC installation training via Salesforce Go (Success Guide support).</a:t>
            </a:r>
          </a:p>
          <a:p>
            <a:pPr>
              <a:spcBef>
                <a:spcPts val="100"/>
              </a:spcBef>
            </a:pPr>
            <a:r>
              <a:rPr sz="900" b="1">
                <a:solidFill>
                  <a:srgbClr val="3C4043"/>
                </a:solidFill>
                <a:latin typeface="Arial"/>
              </a:rPr>
              <a:t>MFA Support:</a:t>
            </a:r>
          </a:p>
          <a:p>
            <a:pPr>
              <a:spcBef>
                <a:spcPts val="100"/>
              </a:spcBef>
            </a:pPr>
            <a:r>
              <a:rPr sz="900" b="0">
                <a:solidFill>
                  <a:srgbClr val="3C4043"/>
                </a:solidFill>
                <a:latin typeface="Arial"/>
              </a:rPr>
              <a:t>Pick MFA cases for Sales Cloud coverage.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9728" y="3845052"/>
            <a:ext cx="3843528" cy="18288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7160" y="3845052"/>
            <a:ext cx="37886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37333"/>
                </a:solidFill>
                <a:latin typeface="Arial"/>
              </a:rPr>
              <a:t>TOP 5 P&amp;T INFLOW TRENDS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4592" y="4064508"/>
            <a:ext cx="3788664" cy="256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rial"/>
              </a:rPr>
              <a:t>OmniStudio  —  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4592" y="4310737"/>
            <a:ext cx="3715512" cy="54864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4592" y="4310737"/>
            <a:ext cx="371551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4592" y="4382554"/>
            <a:ext cx="3788664" cy="194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Arial"/>
              </a:rPr>
              <a:t>FlexCard/OmniScript, Data Mapper, picklist, lookup &amp; merge errors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" y="4577486"/>
            <a:ext cx="3788664" cy="256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rial"/>
              </a:rPr>
              <a:t>Life Sciences  —  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4592" y="4823715"/>
            <a:ext cx="3715512" cy="54864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64592" y="4823715"/>
            <a:ext cx="2423160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4592" y="4895532"/>
            <a:ext cx="3788664" cy="194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Arial"/>
              </a:rPr>
              <a:t>Activity Plan errors, Map Pin, Sample Transfer, UI/display issues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" y="5090464"/>
            <a:ext cx="3788664" cy="256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rial"/>
              </a:rPr>
              <a:t>Industry CPQ (Comm. Cloud)  —  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64592" y="5336693"/>
            <a:ext cx="3715512" cy="54864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64592" y="5336693"/>
            <a:ext cx="1130808" cy="54864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64592" y="5603443"/>
            <a:ext cx="3788664" cy="256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rial"/>
              </a:rPr>
              <a:t>FSC  —  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592" y="5849672"/>
            <a:ext cx="3715512" cy="54864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64592" y="5849672"/>
            <a:ext cx="969264" cy="54864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64592" y="5921489"/>
            <a:ext cx="3788664" cy="194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Arial"/>
              </a:rPr>
              <a:t>Object access related questions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4592" y="6116421"/>
            <a:ext cx="3788664" cy="256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rial"/>
              </a:rPr>
              <a:t>RCA (Configurator)  —  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64592" y="6362650"/>
            <a:ext cx="3715512" cy="54864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64592" y="6362650"/>
            <a:ext cx="807720" cy="54864"/>
          </a:xfrm>
          <a:prstGeom prst="rect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72712" y="3845052"/>
            <a:ext cx="3843528" cy="18288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00144" y="3845052"/>
            <a:ext cx="37886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37333"/>
                </a:solidFill>
                <a:latin typeface="Arial"/>
              </a:rPr>
              <a:t>ACCOUNT SIGNALS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00144" y="4064508"/>
            <a:ext cx="36576" cy="809244"/>
          </a:xfrm>
          <a:prstGeom prst="rect">
            <a:avLst/>
          </a:prstGeom>
          <a:solidFill>
            <a:srgbClr val="13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45864" y="4064508"/>
            <a:ext cx="3715511" cy="809244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82440" y="4091940"/>
            <a:ext cx="364235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37333"/>
                </a:solidFill>
                <a:latin typeface="Arial"/>
              </a:rPr>
              <a:t>Claro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82440" y="4247388"/>
            <a:ext cx="3642359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C4043"/>
                </a:solidFill>
                <a:latin typeface="Arial"/>
              </a:rPr>
              <a:t>Recommendations shared with PS team — customer will be onboarded on improvements. CSM follow-up on Slack pending; case to close post-confirmation.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00144" y="4919472"/>
            <a:ext cx="36576" cy="809244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45864" y="4919472"/>
            <a:ext cx="3715511" cy="809244"/>
          </a:xfrm>
          <a:prstGeom prst="rect">
            <a:avLst/>
          </a:prstGeom>
          <a:solidFill>
            <a:srgbClr val="FE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82440" y="4946904"/>
            <a:ext cx="364235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06000"/>
                </a:solidFill>
                <a:latin typeface="Arial"/>
              </a:rPr>
              <a:t>Veeam  🔴 Running Hot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82440" y="5102352"/>
            <a:ext cx="3642359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C4043"/>
                </a:solidFill>
                <a:latin typeface="Arial"/>
              </a:rPr>
              <a:t>Meeting scheduled for transactional issues. Multiple implementation blockers. RCA SA engaged.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200144" y="5774436"/>
            <a:ext cx="36576" cy="80924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245864" y="5774436"/>
            <a:ext cx="3715511" cy="80924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82440" y="5801868"/>
            <a:ext cx="364235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Arial"/>
              </a:rPr>
              <a:t>Pfizer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82440" y="5957316"/>
            <a:ext cx="3642359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C4043"/>
                </a:solidFill>
                <a:latin typeface="Arial"/>
              </a:rPr>
              <a:t>Event monitoring cases open — alignment with Harish Raja needed. Follow-up call tomorrow (@tushar coordinating).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35695" y="3845052"/>
            <a:ext cx="3843528" cy="18288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63128" y="3845052"/>
            <a:ext cx="37886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37333"/>
                </a:solidFill>
                <a:latin typeface="Arial"/>
              </a:rPr>
              <a:t>POSITIVES &amp; HIGHLIGHTS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90560" y="4064508"/>
            <a:ext cx="3788664" cy="2510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</a:pPr>
            <a:r>
              <a:rPr sz="950" b="1">
                <a:solidFill>
                  <a:srgbClr val="0B5225"/>
                </a:solidFill>
                <a:latin typeface="Arial"/>
              </a:rPr>
              <a:t>✓  No escalations from the team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0B5225"/>
                </a:solidFill>
                <a:latin typeface="Arial"/>
              </a:rPr>
              <a:t>✓  19 Premier cases picked up during low SIG inflow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0B5225"/>
                </a:solidFill>
                <a:latin typeface="Arial"/>
              </a:rPr>
              <a:t>     Proactive capacity utilisation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0B5225"/>
                </a:solidFill>
                <a:latin typeface="Arial"/>
              </a:rPr>
              <a:t>✓  11 Sales Security cases picked up additionally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0B5225"/>
                </a:solidFill>
                <a:latin typeface="Arial"/>
              </a:rPr>
              <a:t>✓  Aniruddha: 8 Marketing Cloud (3 Premier + 6 Standard)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0B5225"/>
                </a:solidFill>
                <a:latin typeface="Arial"/>
              </a:rPr>
              <a:t>✓  Closure = Capacity (88/88) — queue fully cleared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0B5225"/>
                </a:solidFill>
                <a:latin typeface="Arial"/>
              </a:rPr>
              <a:t>✓  119% overall productivity — team above target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3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82880" y="6656832"/>
            <a:ext cx="41148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Chaten's Team  |  Signature &amp; Premier Support  |  Industry Cloud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57600" y="6656832"/>
            <a:ext cx="53035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CSAT: 5.0 All Tiers  |  Prod: 119% Overall / 109% Closure  |  Esc: 0%  |  SLA Miss: 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92640" y="6656832"/>
            <a:ext cx="23774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/>
              </a:rPr>
              <a:t>Aug 2 – 8,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